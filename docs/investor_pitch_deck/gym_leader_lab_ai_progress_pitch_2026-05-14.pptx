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f736169a9c4a3b" /><Relationship Type="http://schemas.openxmlformats.org/officeDocument/2006/relationships/extended-properties" Target="/docProps/app.xml" Id="R6062c8b0cad54f7e" /><Relationship Type="http://schemas.openxmlformats.org/officeDocument/2006/relationships/officeDocument" Target="/ppt/presentation.xml" Id="R9070ab7059244f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e492fb6af6406d"/>
  </p:sldMasterIdLst>
  <p:notesMasterIdLst>
    <p:notesMasterId xmlns:r="http://schemas.openxmlformats.org/officeDocument/2006/relationships" r:id="R481f9210926f4f21"/>
  </p:notesMasterIdLst>
  <p:sldIdLst>
    <p:sldId xmlns:r="http://schemas.openxmlformats.org/officeDocument/2006/relationships" id="256" r:id="R0250cd9a70174149"/>
    <p:sldId xmlns:r="http://schemas.openxmlformats.org/officeDocument/2006/relationships" id="257" r:id="Rebffe765ffe94aa8"/>
    <p:sldId xmlns:r="http://schemas.openxmlformats.org/officeDocument/2006/relationships" id="258" r:id="Rfef4cfbedf724064"/>
    <p:sldId xmlns:r="http://schemas.openxmlformats.org/officeDocument/2006/relationships" id="259" r:id="R88ce484d737d4ebd"/>
    <p:sldId xmlns:r="http://schemas.openxmlformats.org/officeDocument/2006/relationships" id="260" r:id="R87e60c26b3714d00"/>
    <p:sldId xmlns:r="http://schemas.openxmlformats.org/officeDocument/2006/relationships" id="261" r:id="Rbf7c006677794b07"/>
    <p:sldId xmlns:r="http://schemas.openxmlformats.org/officeDocument/2006/relationships" id="262" r:id="Rf5869db93ab94807"/>
    <p:sldId xmlns:r="http://schemas.openxmlformats.org/officeDocument/2006/relationships" id="263" r:id="R58de3c44d7d64584"/>
    <p:sldId xmlns:r="http://schemas.openxmlformats.org/officeDocument/2006/relationships" id="264" r:id="R1e13e88a552f4ba1"/>
    <p:sldId xmlns:r="http://schemas.openxmlformats.org/officeDocument/2006/relationships" id="265" r:id="R330aa2d1e0b645a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e492fb6af6406d" /><Relationship Type="http://schemas.openxmlformats.org/officeDocument/2006/relationships/theme" Target="/ppt/theme/theme1.xml" Id="R90cc069ca6924ca5" /><Relationship Type="http://schemas.openxmlformats.org/officeDocument/2006/relationships/notesMaster" Target="/ppt/notesMasters/notesMaster1.xml" Id="R481f9210926f4f21" /><Relationship Type="http://schemas.openxmlformats.org/officeDocument/2006/relationships/presProps" Target="/ppt/presProps.xml" Id="R3278e33e38834b96" /><Relationship Type="http://schemas.openxmlformats.org/officeDocument/2006/relationships/viewProps" Target="/ppt/viewProps.xml" Id="R0225ffaeceeb4b4d" /><Relationship Type="http://schemas.openxmlformats.org/officeDocument/2006/relationships/tableStyles" Target="/ppt/tableStyles.xml" Id="R830efaba65c54f5d" /><Relationship Type="http://schemas.openxmlformats.org/officeDocument/2006/relationships/slide" Target="/ppt/slides/slide1.xml" Id="R0250cd9a70174149" /><Relationship Type="http://schemas.openxmlformats.org/officeDocument/2006/relationships/slide" Target="/ppt/slides/slide2.xml" Id="Rebffe765ffe94aa8" /><Relationship Type="http://schemas.openxmlformats.org/officeDocument/2006/relationships/slide" Target="/ppt/slides/slide3.xml" Id="Rfef4cfbedf724064" /><Relationship Type="http://schemas.openxmlformats.org/officeDocument/2006/relationships/slide" Target="/ppt/slides/slide4.xml" Id="R88ce484d737d4ebd" /><Relationship Type="http://schemas.openxmlformats.org/officeDocument/2006/relationships/slide" Target="/ppt/slides/slide5.xml" Id="R87e60c26b3714d00" /><Relationship Type="http://schemas.openxmlformats.org/officeDocument/2006/relationships/slide" Target="/ppt/slides/slide6.xml" Id="Rbf7c006677794b07" /><Relationship Type="http://schemas.openxmlformats.org/officeDocument/2006/relationships/slide" Target="/ppt/slides/slide7.xml" Id="Rf5869db93ab94807" /><Relationship Type="http://schemas.openxmlformats.org/officeDocument/2006/relationships/slide" Target="/ppt/slides/slide8.xml" Id="R58de3c44d7d64584" /><Relationship Type="http://schemas.openxmlformats.org/officeDocument/2006/relationships/slide" Target="/ppt/slides/slide9.xml" Id="R1e13e88a552f4ba1" /><Relationship Type="http://schemas.openxmlformats.org/officeDocument/2006/relationships/slide" Target="/ppt/slides/slide10.xml" Id="R330aa2d1e0b645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db0e3ff11424ac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3c4655d31764bf0" /><Relationship Type="http://schemas.openxmlformats.org/officeDocument/2006/relationships/notesMaster" Target="/ppt/notesMasters/notesMaster1.xml" Id="R47f5e5c052dd49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87e92ff934d0a" /><Relationship Type="http://schemas.openxmlformats.org/officeDocument/2006/relationships/notesMaster" Target="/ppt/notesMasters/notesMaster1.xml" Id="R144a58c54acb4b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93fb87f7534199" /><Relationship Type="http://schemas.openxmlformats.org/officeDocument/2006/relationships/notesMaster" Target="/ppt/notesMasters/notesMaster1.xml" Id="R7d0bbe4548b543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efadbcb6a24f2e" /><Relationship Type="http://schemas.openxmlformats.org/officeDocument/2006/relationships/notesMaster" Target="/ppt/notesMasters/notesMaster1.xml" Id="Rac0fefd909c549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20fb821428499b" /><Relationship Type="http://schemas.openxmlformats.org/officeDocument/2006/relationships/notesMaster" Target="/ppt/notesMasters/notesMaster1.xml" Id="R1d9b978af8c849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520019ae1145f1" /><Relationship Type="http://schemas.openxmlformats.org/officeDocument/2006/relationships/notesMaster" Target="/ppt/notesMasters/notesMaster1.xml" Id="Rb06fd9f4d57e402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481d2731524392" /><Relationship Type="http://schemas.openxmlformats.org/officeDocument/2006/relationships/notesMaster" Target="/ppt/notesMasters/notesMaster1.xml" Id="R6d15dba54247403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222dd5ee6e455b" /><Relationship Type="http://schemas.openxmlformats.org/officeDocument/2006/relationships/notesMaster" Target="/ppt/notesMasters/notesMaster1.xml" Id="R52d41b4e1c484d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83462f5c4344417" /><Relationship Type="http://schemas.openxmlformats.org/officeDocument/2006/relationships/notesMaster" Target="/ppt/notesMasters/notesMaster1.xml" Id="R947ff977c71145e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93298ca11f4426" /><Relationship Type="http://schemas.openxmlformats.org/officeDocument/2006/relationships/notesMaster" Target="/ppt/notesMasters/notesMaster1.xml" Id="R56a19a0e0b804e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e10f79ab78434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db342cc5ad664c67" /><Relationship Type="http://schemas.openxmlformats.org/officeDocument/2006/relationships/slideLayout" Target="/ppt/slideLayouts/slideLayout2.xml" Id="R8c7cd8d173864e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7cd8d173864e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2ce0cf6c4f49a7" /><Relationship Type="http://schemas.openxmlformats.org/officeDocument/2006/relationships/image" Target="/ppt/media/image.png" Id="R9bebd52080e241e5" /><Relationship Type="http://schemas.openxmlformats.org/officeDocument/2006/relationships/image" Target="/ppt/media/image2.png" Id="R4530a59e744943ed" /><Relationship Type="http://schemas.openxmlformats.org/officeDocument/2006/relationships/image" Target="/ppt/media/image3.png" Id="Re6b038ccf68a4d57" /><Relationship Type="http://schemas.openxmlformats.org/officeDocument/2006/relationships/notesSlide" Target="/ppt/notesSlides/notesSlide1.xml" Id="R83a561e0b61d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1397bc2d194dc7" /><Relationship Type="http://schemas.openxmlformats.org/officeDocument/2006/relationships/notesSlide" Target="/ppt/notesSlides/notesSlide2.xml" Id="Rd470a6c045104e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7002700e5456d" /><Relationship Type="http://schemas.openxmlformats.org/officeDocument/2006/relationships/image" Target="/ppt/media/image4.png" Id="R4864035e679a4479" /><Relationship Type="http://schemas.openxmlformats.org/officeDocument/2006/relationships/image" Target="/ppt/media/image5.png" Id="R1223170fe334491d" /><Relationship Type="http://schemas.openxmlformats.org/officeDocument/2006/relationships/notesSlide" Target="/ppt/notesSlides/notesSlide3.xml" Id="R96733c3e5e8d4d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b22ae8ca9240da" /><Relationship Type="http://schemas.openxmlformats.org/officeDocument/2006/relationships/notesSlide" Target="/ppt/notesSlides/notesSlide4.xml" Id="Rd76e8faf583b4e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9e49ac9fccf4485" /><Relationship Type="http://schemas.openxmlformats.org/officeDocument/2006/relationships/image" Target="/ppt/media/image6.png" Id="Re66ac2488cde41ac" /><Relationship Type="http://schemas.openxmlformats.org/officeDocument/2006/relationships/image" Target="/ppt/media/image7.png" Id="R6ac3d1612cda4118" /><Relationship Type="http://schemas.openxmlformats.org/officeDocument/2006/relationships/notesSlide" Target="/ppt/notesSlides/notesSlide5.xml" Id="R646353b45eb44f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e1e66b7de44b98" /><Relationship Type="http://schemas.openxmlformats.org/officeDocument/2006/relationships/image" Target="/ppt/media/image8.png" Id="R8ddf0b9389d64866" /><Relationship Type="http://schemas.openxmlformats.org/officeDocument/2006/relationships/image" Target="/ppt/media/image9.png" Id="Rf86d4b5fa11545e2" /><Relationship Type="http://schemas.openxmlformats.org/officeDocument/2006/relationships/image" Target="/ppt/media/image10.png" Id="Re4f8e276535343ee" /><Relationship Type="http://schemas.openxmlformats.org/officeDocument/2006/relationships/notesSlide" Target="/ppt/notesSlides/notesSlide6.xml" Id="R27e813ff0deb47e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10f06c3d81478e" /><Relationship Type="http://schemas.openxmlformats.org/officeDocument/2006/relationships/image" Target="/ppt/media/image11.png" Id="R1963b4a73763495a" /><Relationship Type="http://schemas.openxmlformats.org/officeDocument/2006/relationships/notesSlide" Target="/ppt/notesSlides/notesSlide7.xml" Id="Ra9491575e76248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60904cd36d543e1" /><Relationship Type="http://schemas.openxmlformats.org/officeDocument/2006/relationships/notesSlide" Target="/ppt/notesSlides/notesSlide8.xml" Id="R0b22bf12f4bb46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985652cc2ed4991" /><Relationship Type="http://schemas.openxmlformats.org/officeDocument/2006/relationships/image" Target="/ppt/media/image12.png" Id="R68fb189c990b49ab" /><Relationship Type="http://schemas.openxmlformats.org/officeDocument/2006/relationships/image" Target="/ppt/media/image13.png" Id="R31aab3814b274d80" /><Relationship Type="http://schemas.openxmlformats.org/officeDocument/2006/relationships/notesSlide" Target="/ppt/notesSlides/notesSlide9.xml" Id="R7cbb3ceff4be4f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7c5513a5034210" /><Relationship Type="http://schemas.openxmlformats.org/officeDocument/2006/relationships/image" Target="/ppt/media/image14.png" Id="Ra0a8ad42a3d84af3" /><Relationship Type="http://schemas.openxmlformats.org/officeDocument/2006/relationships/image" Target="/ppt/media/image15.png" Id="Ra38bcf5b2bc64823" /><Relationship Type="http://schemas.openxmlformats.org/officeDocument/2006/relationships/image" Target="/ppt/media/image16.png" Id="R2e9764742c9144e8" /><Relationship Type="http://schemas.openxmlformats.org/officeDocument/2006/relationships/notesSlide" Target="/ppt/notesSlides/notesSlide10.xml" Id="Rfbad77ff9c9649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9D29FB76-9332-4ADF-9211-400170EF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1F"/>
          </a:solidFill>
        </p:spPr>
      </p:sp>
      <p:sp>
        <p:nvSpPr>
          <p:cNvPr id="2" name="kicker-gym-leader-lab-ai-progress-update">
            <a:extLst xmlns:a="http://schemas.openxmlformats.org/drawingml/2006/main">
              <a:ext uri="{FF2B5EF4-FFF2-40B4-BE49-F238E27FC236}">
                <a16:creationId xmlns:a16="http://schemas.microsoft.com/office/drawing/2014/main" id="{AEA523FB-DA4F-4D2B-83EA-4EE95935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8439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F4B942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4B942"/>
                </a:solidFill>
                <a:latin typeface="Bahnschrift"/>
                <a:ea typeface="Bahnschrift"/>
                <a:cs typeface="Bahnschrift"/>
              </a:rPr>
              <a:t>GYM LEADER LAB | AI PROGRESS UPDATE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8501A48-3986-48A3-AB88-F8BFD7F6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7334250" cy="243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780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780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Smarter bosses, still fair.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467D0FB3-3FEA-430A-926B-CC25D74A9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7562850" cy="1276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DCE6DC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DCE6DC"/>
                </a:solidFill>
                <a:latin typeface="Aptos"/>
                <a:ea typeface="Aptos"/>
                <a:cs typeface="Aptos"/>
              </a:rPr>
              <a:t>The next AI plan turns existing battle infrastructure into more human-feeling decisions without broad search or hidden player information.</a:t>
            </a:r>
          </a:p>
        </p:txBody>
      </p:sp>
      <p:sp>
        <p:nvSpPr>
          <p:cNvPr id="5" name="pill-buildable">
            <a:extLst xmlns:a="http://schemas.openxmlformats.org/drawingml/2006/main">
              <a:ext uri="{FF2B5EF4-FFF2-40B4-BE49-F238E27FC236}">
                <a16:creationId xmlns:a16="http://schemas.microsoft.com/office/drawing/2014/main" id="{1F32F04B-4A6E-44F2-B997-6C7B4A60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251040"/>
            <a:ext cx="13525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6CE33-2F2F-4395-8E6E-8B11EA47C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334250"/>
            <a:ext cx="100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Buildable</a:t>
            </a:r>
          </a:p>
        </p:txBody>
      </p:sp>
      <p:sp>
        <p:nvSpPr>
          <p:cNvPr id="7" name="pill-public-info-ai">
            <a:extLst xmlns:a="http://schemas.openxmlformats.org/drawingml/2006/main">
              <a:ext uri="{FF2B5EF4-FFF2-40B4-BE49-F238E27FC236}">
                <a16:creationId xmlns:a16="http://schemas.microsoft.com/office/drawing/2014/main" id="{D2F60DC1-CC31-4AC5-9465-69FC3C47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7251040"/>
            <a:ext cx="19240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4DED8-8AA8-4AD4-BE0A-D4F49610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7334250"/>
            <a:ext cx="1581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Public-info AI</a:t>
            </a:r>
          </a:p>
        </p:txBody>
      </p:sp>
      <p:sp>
        <p:nvSpPr>
          <p:cNvPr id="9" name="pill-plan-only">
            <a:extLst xmlns:a="http://schemas.openxmlformats.org/drawingml/2006/main">
              <a:ext uri="{FF2B5EF4-FFF2-40B4-BE49-F238E27FC236}">
                <a16:creationId xmlns:a16="http://schemas.microsoft.com/office/drawing/2014/main" id="{D7AE7951-FE26-409B-AEEB-87E4F73C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7251040"/>
            <a:ext cx="13525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13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BB876-5B02-4EC3-B4DE-CE9738C2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7334250"/>
            <a:ext cx="1009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Plan only</a:t>
            </a:r>
          </a:p>
        </p:txBody>
      </p:sp>
      <p:sp>
        <p:nvSpPr>
          <p:cNvPr id="11" name="cover-art-field">
            <a:extLst xmlns:a="http://schemas.openxmlformats.org/drawingml/2006/main">
              <a:ext uri="{FF2B5EF4-FFF2-40B4-BE49-F238E27FC236}">
                <a16:creationId xmlns:a16="http://schemas.microsoft.com/office/drawing/2014/main" id="{18148AD0-112A-4613-A4BC-E08A09F5D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1828800"/>
            <a:ext cx="7086600" cy="670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13A"/>
          </a:solidFill>
        </p:spPr>
      </p:sp>
      <p:pic>
        <p:nvPicPr>
          <p:cNvPr id="12" name="janine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ebd52080e241e5"/>
          <a:stretch xmlns:a="http://schemas.openxmlformats.org/drawingml/2006/main"/>
        </p:blipFill>
        <p:spPr>
          <a:xfrm xmlns:a="http://schemas.openxmlformats.org/drawingml/2006/main">
            <a:off x="10173653" y="4057650"/>
            <a:ext cx="2190750" cy="2190750"/>
          </a:xfrm>
          <a:prstGeom xmlns:a="http://schemas.openxmlformats.org/drawingml/2006/main" prst="rect">
            <a:avLst/>
          </a:prstGeom>
        </p:spPr>
      </p:pic>
      <p:pic>
        <p:nvPicPr>
          <p:cNvPr id="13" name="koga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0a59e744943ed"/>
          <a:stretch xmlns:a="http://schemas.openxmlformats.org/drawingml/2006/main"/>
        </p:blipFill>
        <p:spPr>
          <a:xfrm xmlns:a="http://schemas.openxmlformats.org/drawingml/2006/main">
            <a:off x="12459653" y="4057650"/>
            <a:ext cx="2190750" cy="2190750"/>
          </a:xfrm>
          <a:prstGeom xmlns:a="http://schemas.openxmlformats.org/drawingml/2006/main" prst="rect">
            <a:avLst/>
          </a:prstGeom>
        </p:spPr>
      </p:pic>
      <p:pic>
        <p:nvPicPr>
          <p:cNvPr id="14" name="champion-sprit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038ccf68a4d57"/>
          <a:stretch xmlns:a="http://schemas.openxmlformats.org/drawingml/2006/main"/>
        </p:blipFill>
        <p:spPr>
          <a:xfrm xmlns:a="http://schemas.openxmlformats.org/drawingml/2006/main">
            <a:off x="14745653" y="4057650"/>
            <a:ext cx="2190750" cy="2190750"/>
          </a:xfrm>
          <a:prstGeom xmlns:a="http://schemas.openxmlformats.org/drawingml/2006/main" prst="rect">
            <a:avLst/>
          </a:prstGeom>
        </p:spPr>
      </p:pic>
      <p:sp>
        <p:nvSpPr>
          <p:cNvPr id="15" name="cover-art-label">
            <a:extLst xmlns:a="http://schemas.openxmlformats.org/drawingml/2006/main">
              <a:ext uri="{FF2B5EF4-FFF2-40B4-BE49-F238E27FC236}">
                <a16:creationId xmlns:a16="http://schemas.microsoft.com/office/drawing/2014/main" id="{F580B5C3-2FB0-4262-B219-499AC7371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809750"/>
            <a:ext cx="7067550" cy="666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1E7C8"/>
                </a:solidFill>
                <a:latin typeface="Bahnschrift"/>
                <a:ea typeface="Bahnschrift"/>
                <a:cs typeface="Bahnschrift"/>
              </a:defRPr>
            </a:pPr>
            <a:r>
              <a:rPr sz="1950" b="1">
                <a:solidFill>
                  <a:srgbClr val="F1E7C8"/>
                </a:solidFill>
                <a:latin typeface="Bahnschrift"/>
                <a:ea typeface="Bahnschrift"/>
                <a:cs typeface="Bahnschrift"/>
              </a:rPr>
              <a:t>Fair pressure, not clairvoyance</a:t>
            </a:r>
          </a:p>
        </p:txBody>
      </p:sp>
    </p:spTree>
    <p:extLst>
      <p:ext uri="{BB962C8B-B14F-4D97-AF65-F5344CB8AC3E}">
        <p14:creationId xmlns:p14="http://schemas.microsoft.com/office/powerpoint/2010/main" val="15999220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AC5F95BE-F26D-4DD0-B7CD-2A89F215F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executive-readout">
            <a:extLst xmlns:a="http://schemas.openxmlformats.org/drawingml/2006/main">
              <a:ext uri="{FF2B5EF4-FFF2-40B4-BE49-F238E27FC236}">
                <a16:creationId xmlns:a16="http://schemas.microsoft.com/office/drawing/2014/main" id="{0CEC56D1-01F9-49B3-936E-ADAAE919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EXECUTIVE READOUT</a:t>
            </a:r>
          </a:p>
        </p:txBody>
      </p:sp>
      <p:sp>
        <p:nvSpPr>
          <p:cNvPr id="3" name="readout-title">
            <a:extLst xmlns:a="http://schemas.openxmlformats.org/drawingml/2006/main">
              <a:ext uri="{FF2B5EF4-FFF2-40B4-BE49-F238E27FC236}">
                <a16:creationId xmlns:a16="http://schemas.microsoft.com/office/drawing/2014/main" id="{09A627CB-3026-4474-8BCC-7B9F446A2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23063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7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7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The project is in a credible AI iteration phase.</a:t>
            </a:r>
          </a:p>
        </p:txBody>
      </p:sp>
      <p:sp>
        <p:nvSpPr>
          <p:cNvPr id="4" name="readout-subtitle">
            <a:extLst xmlns:a="http://schemas.openxmlformats.org/drawingml/2006/main">
              <a:ext uri="{FF2B5EF4-FFF2-40B4-BE49-F238E27FC236}">
                <a16:creationId xmlns:a16="http://schemas.microsoft.com/office/drawing/2014/main" id="{22DB2A03-4F19-483C-9FB6-B00B2589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132778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22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The current ROM already builds and already has a split boss AI overlay. The plan is not a rewrite. It is a sequence of small, audited heuristics that improve move quality while preserving fairness.</a:t>
            </a:r>
          </a:p>
        </p:txBody>
      </p:sp>
      <p:sp>
        <p:nvSpPr>
          <p:cNvPr id="5" name="proof-build">
            <a:extLst xmlns:a="http://schemas.openxmlformats.org/drawingml/2006/main">
              <a:ext uri="{FF2B5EF4-FFF2-40B4-BE49-F238E27FC236}">
                <a16:creationId xmlns:a16="http://schemas.microsoft.com/office/drawing/2014/main" id="{2FD30396-D6C1-4845-91AE-D8CF367B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56532"/>
            <a:ext cx="5270500" cy="2541422"/>
          </a:xfrm>
          <a:prstGeom xmlns:a="http://schemas.openxmlformats.org/drawingml/2006/main" prst="roundRect">
            <a:avLst>
              <a:gd name="adj" fmla="val 4497"/>
            </a:avLst>
          </a:prstGeom>
          <a:solidFill xmlns:a="http://schemas.openxmlformats.org/drawingml/2006/main">
            <a:srgbClr val="E8F4EC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52FCD8-C7B3-436A-BCB5-BB908CDC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4705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Verified now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A3F6B-1532-4952-9F05-33684F44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4705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Gold/Silver build passed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76099-1BEF-4D7D-86FA-8A9F5378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57850"/>
            <a:ext cx="4705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Normal build produced pokegold.gbc and pokesilver.gbc during the planning pass.</a:t>
            </a:r>
          </a:p>
        </p:txBody>
      </p:sp>
      <p:sp>
        <p:nvSpPr>
          <p:cNvPr id="9" name="proof-ai">
            <a:extLst xmlns:a="http://schemas.openxmlformats.org/drawingml/2006/main">
              <a:ext uri="{FF2B5EF4-FFF2-40B4-BE49-F238E27FC236}">
                <a16:creationId xmlns:a16="http://schemas.microsoft.com/office/drawing/2014/main" id="{D8721DAA-5399-46DC-BB6C-31D5FED8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4256532"/>
            <a:ext cx="5270500" cy="2541422"/>
          </a:xfrm>
          <a:prstGeom xmlns:a="http://schemas.openxmlformats.org/drawingml/2006/main" prst="roundRect">
            <a:avLst>
              <a:gd name="adj" fmla="val 4497"/>
            </a:avLst>
          </a:prstGeom>
          <a:solidFill xmlns:a="http://schemas.openxmlformats.org/drawingml/2006/main">
            <a:srgbClr val="EAF0FA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E98FAF-4D0F-4910-9AC6-7AFA86CA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33900"/>
            <a:ext cx="4705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5EA8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F5EA8"/>
                </a:solidFill>
                <a:latin typeface="Bahnschrift"/>
                <a:ea typeface="Bahnschrift"/>
                <a:cs typeface="Bahnschrift"/>
              </a:rPr>
              <a:t>Implemented foundation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B3ED20-4394-4B86-99FB-71B86AC8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010150"/>
            <a:ext cx="4705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Boss AI overlay is live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05DE18-A030-47D0-AD64-9F2B84C1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657850"/>
            <a:ext cx="47053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Move scoring, switching, public threat masks, lookahead, and weighted best-vs-second selection already exist.</a:t>
            </a:r>
          </a:p>
        </p:txBody>
      </p:sp>
      <p:sp>
        <p:nvSpPr>
          <p:cNvPr id="13" name="proof-next">
            <a:extLst xmlns:a="http://schemas.openxmlformats.org/drawingml/2006/main">
              <a:ext uri="{FF2B5EF4-FFF2-40B4-BE49-F238E27FC236}">
                <a16:creationId xmlns:a16="http://schemas.microsoft.com/office/drawing/2014/main" id="{C251A564-3B23-4B35-B29A-63997AD8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3100" y="4256532"/>
            <a:ext cx="5270500" cy="2541422"/>
          </a:xfrm>
          <a:prstGeom xmlns:a="http://schemas.openxmlformats.org/drawingml/2006/main" prst="roundRect">
            <a:avLst>
              <a:gd name="adj" fmla="val 4497"/>
            </a:avLst>
          </a:prstGeom>
          <a:solidFill xmlns:a="http://schemas.openxmlformats.org/drawingml/2006/main">
            <a:srgbClr val="FFF0D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69F9D8-EC41-45A6-BE11-CF5B035F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533900"/>
            <a:ext cx="4705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9A6415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9A6415"/>
                </a:solidFill>
                <a:latin typeface="Bahnschrift"/>
                <a:ea typeface="Bahnschrift"/>
                <a:cs typeface="Bahnschrift"/>
              </a:rPr>
              <a:t>Next milestone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08CE5-6F62-4DEF-892A-1D9D8919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010150"/>
            <a:ext cx="4705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3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One narrow patch 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911EC0-435D-456E-A87D-7218BA6B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657850"/>
            <a:ext cx="47053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Public revealed-spinner hazard retention is the first planned implementation; it is not implemented yet.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AEE5D35-8586-45DC-87A4-3EEF573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0675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Sources: local build/audit run; docs/boss_ai_lessons_implementation_plan_2026-05-14.md.</a:t>
            </a:r>
          </a:p>
        </p:txBody>
      </p:sp>
    </p:spTree>
    <p:extLst>
      <p:ext uri="{BB962C8B-B14F-4D97-AF65-F5344CB8AC3E}">
        <p14:creationId xmlns:p14="http://schemas.microsoft.com/office/powerpoint/2010/main" val="7196011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3535D671-96C7-4BBB-AAC4-E2736CE4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what-exists-today">
            <a:extLst xmlns:a="http://schemas.openxmlformats.org/drawingml/2006/main">
              <a:ext uri="{FF2B5EF4-FFF2-40B4-BE49-F238E27FC236}">
                <a16:creationId xmlns:a16="http://schemas.microsoft.com/office/drawing/2014/main" id="{61DF1A9A-02CA-4C25-ACC2-333E32D39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WHAT EXISTS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359DD-777D-40E2-AD04-58AF235A0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24587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4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4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The AI stack is already more than vanilla trainer behavior.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85DB6-DAD2-47DC-BF79-304072B5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Public state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07501-D130-4672-8A10-0A5C07F1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716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Visible active Pokemon, revealed moves, seen species, HP/status/boosts, hazards, observed switches.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DFB5D9-2972-4E5F-9AF0-D3E53C01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7162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4B942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F4B942"/>
                </a:solidFill>
                <a:latin typeface="Bahnschrift"/>
                <a:ea typeface="Bahnschrift"/>
                <a:cs typeface="Bahnschrift"/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CD3BB4-FC31-437B-ABEE-8748B7C3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7685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Boss scorer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3567D2-97A8-4D4A-A21F-D9E8FCE60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716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KO pressure, deny-KO, utility fail gates, plan/role bias, setup pressure, phazing, Spikes, Rapid Spin.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5967D-8E95-4EE9-9617-6812CC6D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438900"/>
            <a:ext cx="7162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400" b="1">
                <a:solidFill>
                  <a:srgbClr val="F4B942"/>
                </a:solidFill>
                <a:latin typeface="Bahnschrift"/>
                <a:ea typeface="Bahnschrift"/>
                <a:cs typeface="Bahnschrift"/>
              </a:defRPr>
            </a:pPr>
            <a:r>
              <a:rPr sz="2400" b="1">
                <a:solidFill>
                  <a:srgbClr val="F4B942"/>
                </a:solidFill>
                <a:latin typeface="Bahnschrift"/>
                <a:ea typeface="Bahnschrift"/>
                <a:cs typeface="Bahnschrift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DD0053-A3B1-41B1-B520-80784CA8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300"/>
            <a:ext cx="71628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Selection and trace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939831-04EF-407E-B353-A0F3B2D7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10450"/>
            <a:ext cx="71628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725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Lookahead for near-top moves, weighted best-vs-second selection, trace fields under BOSS_AI_TRACE.</a:t>
            </a:r>
          </a:p>
        </p:txBody>
      </p:sp>
      <p:sp>
        <p:nvSpPr>
          <p:cNvPr id="12" name="battle-artifact-bg">
            <a:extLst xmlns:a="http://schemas.openxmlformats.org/drawingml/2006/main">
              <a:ext uri="{FF2B5EF4-FFF2-40B4-BE49-F238E27FC236}">
                <a16:creationId xmlns:a16="http://schemas.microsoft.com/office/drawing/2014/main" id="{E8C8E938-77CC-425E-AFF8-4BE03454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52800"/>
            <a:ext cx="83058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A1F"/>
          </a:solidFill>
        </p:spPr>
      </p:sp>
      <p:pic>
        <p:nvPicPr>
          <p:cNvPr id="13" name="qwilfish-architec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64035e679a4479"/>
          <a:stretch xmlns:a="http://schemas.openxmlformats.org/drawingml/2006/main"/>
        </p:blipFill>
        <p:spPr>
          <a:xfrm xmlns:a="http://schemas.openxmlformats.org/drawingml/2006/main">
            <a:off x="9810750" y="3987317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F8AC5-14DC-4EA6-816C-9AA29DD8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6496050"/>
            <a:ext cx="377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1E7C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1E7C8"/>
                </a:solidFill>
                <a:latin typeface="Bahnschrift"/>
                <a:ea typeface="Bahnschrift"/>
                <a:cs typeface="Bahnschrift"/>
              </a:rPr>
              <a:t>Boss move set</a:t>
            </a:r>
          </a:p>
        </p:txBody>
      </p:sp>
      <p:pic>
        <p:nvPicPr>
          <p:cNvPr id="15" name="starmie-architectur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3170fe334491d"/>
          <a:stretch xmlns:a="http://schemas.openxmlformats.org/drawingml/2006/main"/>
        </p:blipFill>
        <p:spPr>
          <a:xfrm xmlns:a="http://schemas.openxmlformats.org/drawingml/2006/main">
            <a:off x="13716000" y="3987317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12084D-126F-4E5C-89F0-FFDA9D5FB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68300" y="6496050"/>
            <a:ext cx="377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1E7C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1E7C8"/>
                </a:solidFill>
                <a:latin typeface="Bahnschrift"/>
                <a:ea typeface="Bahnschrift"/>
                <a:cs typeface="Bahnschrift"/>
              </a:rPr>
              <a:t>Player public state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65DCB1-72D2-45F2-99D9-3FA78703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7277100"/>
            <a:ext cx="7677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0">
                <a:solidFill>
                  <a:srgbClr val="EDE8D7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DE8D7"/>
                </a:solidFill>
                <a:latin typeface="Aptos"/>
                <a:ea typeface="Aptos"/>
                <a:cs typeface="Aptos"/>
              </a:rPr>
              <a:t>Current selector already mixes close best-vs-second choices; the plan tightens what counts as a defensible choice.</a:t>
            </a:r>
          </a:p>
        </p:txBody>
      </p:sp>
      <p:sp>
        <p:nvSpPr>
          <p:cNvPr id="1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1CC92FD-D022-4A98-8D29-E719BCB0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249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Fact: boss trainers enter this path when wBossAITier != 0; lower move score is better.</a:t>
            </a:r>
          </a:p>
        </p:txBody>
      </p:sp>
    </p:spTree>
    <p:extLst>
      <p:ext uri="{BB962C8B-B14F-4D97-AF65-F5344CB8AC3E}">
        <p14:creationId xmlns:p14="http://schemas.microsoft.com/office/powerpoint/2010/main" val="11661412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1F140E4-7AD7-41F7-A65D-2D48D294A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why-the-plan-matters">
            <a:extLst xmlns:a="http://schemas.openxmlformats.org/drawingml/2006/main">
              <a:ext uri="{FF2B5EF4-FFF2-40B4-BE49-F238E27FC236}">
                <a16:creationId xmlns:a16="http://schemas.microsoft.com/office/drawing/2014/main" id="{ED5A43FC-D6C6-4676-BFA1-E08547692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WHY THE PLAN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CE3BF-F6B7-4DD9-9A85-B8FB14A6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30111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4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4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The work shifts difficulty from raw stats to readable decisions.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1A6A39-9BCC-4520-9801-2B7D9CF1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8E78C-B674-470D-B1E3-BCF625D7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6553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7463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C74632"/>
                </a:solidFill>
                <a:latin typeface="Bahnschrift"/>
                <a:ea typeface="Bahnschrift"/>
                <a:cs typeface="Bahnschrift"/>
              </a:rPr>
              <a:t>Before: current or identified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EF10F7-5E94-4FF8-9993-261CEE8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124200"/>
            <a:ext cx="65532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After: planned behavior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77A10-2ED7-4AB3-88FD-DFC228EE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Hazards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D66CF-3795-43DB-A258-86944C28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95700"/>
            <a:ext cx="655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Layer-aware Spikes exists, but no dedicated active revealed-Rapid-Spin penalty was found in the Spikes branch.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83444E-5F53-47DD-9719-725049C7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3695700"/>
            <a:ext cx="655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Stack only when it still converts; otherwise pressure or cash out against the revealed spinner.</a:t>
            </a:r>
          </a:p>
        </p:txBody>
      </p:sp>
      <p:sp>
        <p:nvSpPr>
          <p:cNvPr id="10" name="rule-Hazards">
            <a:extLst xmlns:a="http://schemas.openxmlformats.org/drawingml/2006/main">
              <a:ext uri="{FF2B5EF4-FFF2-40B4-BE49-F238E27FC236}">
                <a16:creationId xmlns:a16="http://schemas.microsoft.com/office/drawing/2014/main" id="{95EC42F1-910E-4C56-9E3F-7A62313D1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73A97-DD22-481B-AFA8-B212F855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6D4DB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D4DB2"/>
                </a:solidFill>
                <a:latin typeface="Bahnschrift"/>
                <a:ea typeface="Bahnschrift"/>
                <a:cs typeface="Bahnschrift"/>
              </a:rPr>
              <a:t>Setup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EF8EB3-B85D-44AE-9433-4932BEAF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686300"/>
            <a:ext cx="655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Existing pressure checks reduce bad setup, but the plan calls for tighter low-HP public-KO cases.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EF946-B5D7-4C77-99D5-75510C5E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686300"/>
            <a:ext cx="655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Setup is suppressed unless it immediately wins, survives, or preserves the route.</a:t>
            </a:r>
          </a:p>
        </p:txBody>
      </p:sp>
      <p:sp>
        <p:nvSpPr>
          <p:cNvPr id="14" name="rule-Setup">
            <a:extLst xmlns:a="http://schemas.openxmlformats.org/drawingml/2006/main">
              <a:ext uri="{FF2B5EF4-FFF2-40B4-BE49-F238E27FC236}">
                <a16:creationId xmlns:a16="http://schemas.microsoft.com/office/drawing/2014/main" id="{D6DAD4C1-757B-44F1-9870-E40AFCD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721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7021BD-B813-43F7-BF7B-51FFE32C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7463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C74632"/>
                </a:solidFill>
                <a:latin typeface="Bahnschrift"/>
                <a:ea typeface="Bahnschrift"/>
                <a:cs typeface="Bahnschrift"/>
              </a:rPr>
              <a:t>Sacrifice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58FBE-2FD5-4FD4-B302-437388E1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657850"/>
            <a:ext cx="655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Self-KO moves already have risk handling, but route-value discipline is a later target.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1E9FDB-724F-4CA7-9590-D28B2E87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5657850"/>
            <a:ext cx="655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Explosion-style trades fire when they remove a public route piece, not for low-value chip.</a:t>
            </a:r>
          </a:p>
        </p:txBody>
      </p:sp>
      <p:sp>
        <p:nvSpPr>
          <p:cNvPr id="18" name="rule-Sacrifice">
            <a:extLst xmlns:a="http://schemas.openxmlformats.org/drawingml/2006/main">
              <a:ext uri="{FF2B5EF4-FFF2-40B4-BE49-F238E27FC236}">
                <a16:creationId xmlns:a16="http://schemas.microsoft.com/office/drawing/2014/main" id="{613D75B1-C4C8-4C94-9EBF-A8B84C982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627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72DAEE-A922-410A-9DA4-31E1B159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484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5EA8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F5EA8"/>
                </a:solidFill>
                <a:latin typeface="Bahnschrift"/>
                <a:ea typeface="Bahnschrift"/>
                <a:cs typeface="Bahnschrift"/>
              </a:rPr>
              <a:t>Predictability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AB8ADA-6324-4E46-9D84-6B00F2CF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648450"/>
            <a:ext cx="655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Weighted best-vs-second already exists; broad new randomness is not the first patch.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0FDB1E-5082-4281-A97B-2EEADCBA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648450"/>
            <a:ext cx="65532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More close choices become human-plausible only after hard rejects keep bad moves out.</a:t>
            </a:r>
          </a:p>
        </p:txBody>
      </p:sp>
      <p:sp>
        <p:nvSpPr>
          <p:cNvPr id="22" name="rule-Predictability">
            <a:extLst xmlns:a="http://schemas.openxmlformats.org/drawingml/2006/main">
              <a:ext uri="{FF2B5EF4-FFF2-40B4-BE49-F238E27FC236}">
                <a16:creationId xmlns:a16="http://schemas.microsoft.com/office/drawing/2014/main" id="{A11C597C-0E0B-4FBA-AC0B-733963CD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53300"/>
            <a:ext cx="16459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6936863-DEEE-4AED-BF10-65964290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390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No row represents shipped behavior unless marked current. Planned rows require implementation and validation.</a:t>
            </a:r>
          </a:p>
        </p:txBody>
      </p:sp>
    </p:spTree>
    <p:extLst>
      <p:ext uri="{BB962C8B-B14F-4D97-AF65-F5344CB8AC3E}">
        <p14:creationId xmlns:p14="http://schemas.microsoft.com/office/powerpoint/2010/main" val="6838616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A4B9875-13E9-4291-854C-5E0E1DD3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before-after-example-1">
            <a:extLst xmlns:a="http://schemas.openxmlformats.org/drawingml/2006/main">
              <a:ext uri="{FF2B5EF4-FFF2-40B4-BE49-F238E27FC236}">
                <a16:creationId xmlns:a16="http://schemas.microsoft.com/office/drawing/2014/main" id="{51B2D425-9DF6-41BE-8EA6-C7AAD6B5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BEFORE / AFTER EXAMPLE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6A3773-453E-49D9-8FEE-F7B07A2B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39827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2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2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Hazards become smarter when Rapid Spin has been revealed.</a:t>
            </a:r>
          </a:p>
        </p:txBody>
      </p:sp>
      <p:sp>
        <p:nvSpPr>
          <p:cNvPr id="4" name="hazard-bg">
            <a:extLst xmlns:a="http://schemas.openxmlformats.org/drawingml/2006/main">
              <a:ext uri="{FF2B5EF4-FFF2-40B4-BE49-F238E27FC236}">
                <a16:creationId xmlns:a16="http://schemas.microsoft.com/office/drawing/2014/main" id="{08248F68-418A-4089-8AA8-FCB657A8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6324600" cy="487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A35"/>
          </a:solidFill>
        </p:spPr>
      </p:sp>
      <p:pic>
        <p:nvPicPr>
          <p:cNvPr id="5" name="qwilfish-haz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6ac2488cde41ac"/>
          <a:stretch xmlns:a="http://schemas.openxmlformats.org/drawingml/2006/main"/>
        </p:blipFill>
        <p:spPr>
          <a:xfrm xmlns:a="http://schemas.openxmlformats.org/drawingml/2006/main">
            <a:off x="1504950" y="3907307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B9B71-B0DB-4320-A601-07190C55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6648450"/>
            <a:ext cx="274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1E7C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1E7C8"/>
                </a:solidFill>
                <a:latin typeface="Bahnschrift"/>
                <a:ea typeface="Bahnschrift"/>
                <a:cs typeface="Bahnschrift"/>
              </a:rPr>
              <a:t>Janine's Qwilfish</a:t>
            </a:r>
          </a:p>
        </p:txBody>
      </p:sp>
      <p:pic>
        <p:nvPicPr>
          <p:cNvPr id="7" name="starmie-hazar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c3d1612cda4118"/>
          <a:stretch xmlns:a="http://schemas.openxmlformats.org/drawingml/2006/main"/>
        </p:blipFill>
        <p:spPr>
          <a:xfrm xmlns:a="http://schemas.openxmlformats.org/drawingml/2006/main">
            <a:off x="4419600" y="3907307"/>
            <a:ext cx="2667000" cy="2667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6BD816-163B-4BD1-B426-5FA0C82E1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648450"/>
            <a:ext cx="2743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F1E7C8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F1E7C8"/>
                </a:solidFill>
                <a:latin typeface="Bahnschrift"/>
                <a:ea typeface="Bahnschrift"/>
                <a:cs typeface="Bahnschrift"/>
              </a:rPr>
              <a:t>Active Starmie</a:t>
            </a:r>
          </a:p>
        </p:txBody>
      </p:sp>
      <p:sp>
        <p:nvSpPr>
          <p:cNvPr id="9" name="pill-2-spikes-layers">
            <a:extLst xmlns:a="http://schemas.openxmlformats.org/drawingml/2006/main">
              <a:ext uri="{FF2B5EF4-FFF2-40B4-BE49-F238E27FC236}">
                <a16:creationId xmlns:a16="http://schemas.microsoft.com/office/drawing/2014/main" id="{DEC91792-B494-41C8-B149-947BFEB8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008" y="7372350"/>
            <a:ext cx="20383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B942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2BE93D-1FAC-46B3-8CBD-3E477294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7448550"/>
            <a:ext cx="1695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2 Spikes layers</a:t>
            </a:r>
          </a:p>
        </p:txBody>
      </p:sp>
      <p:sp>
        <p:nvSpPr>
          <p:cNvPr id="11" name="pill-rapid-spin-revealed">
            <a:extLst xmlns:a="http://schemas.openxmlformats.org/drawingml/2006/main">
              <a:ext uri="{FF2B5EF4-FFF2-40B4-BE49-F238E27FC236}">
                <a16:creationId xmlns:a16="http://schemas.microsoft.com/office/drawing/2014/main" id="{7DBD1A43-639A-4153-8BA8-A3AD7B35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6708" y="7372350"/>
            <a:ext cx="24955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661F54-9842-4D2A-A08F-2ED92368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7448550"/>
            <a:ext cx="215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Rapid Spin revealed</a:t>
            </a:r>
          </a:p>
        </p:txBody>
      </p:sp>
      <p:sp>
        <p:nvSpPr>
          <p:cNvPr id="13" name="hazard-before">
            <a:extLst xmlns:a="http://schemas.openxmlformats.org/drawingml/2006/main">
              <a:ext uri="{FF2B5EF4-FFF2-40B4-BE49-F238E27FC236}">
                <a16:creationId xmlns:a16="http://schemas.microsoft.com/office/drawing/2014/main" id="{3E21B420-7126-4AC9-A6E1-3861FA62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265" y="3676650"/>
            <a:ext cx="9157335" cy="1512265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F6DDD7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49D06C-AF6B-4BFD-A86F-D9872C39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924300"/>
            <a:ext cx="866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74632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C74632"/>
                </a:solidFill>
                <a:latin typeface="Bahnschrift"/>
                <a:ea typeface="Bahnschrift"/>
                <a:cs typeface="Bahnschrift"/>
              </a:rPr>
              <a:t>Before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0BD8FF-9542-41AF-8C71-53D59C73F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05300"/>
            <a:ext cx="8667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No dedicated check in .ApplySpikesLayerBias for active revealed Rapid Spin. The score mainly follows layer count, pressure, and switch chance.</a:t>
            </a:r>
          </a:p>
        </p:txBody>
      </p:sp>
      <p:sp>
        <p:nvSpPr>
          <p:cNvPr id="16" name="hazard-after">
            <a:extLst xmlns:a="http://schemas.openxmlformats.org/drawingml/2006/main">
              <a:ext uri="{FF2B5EF4-FFF2-40B4-BE49-F238E27FC236}">
                <a16:creationId xmlns:a16="http://schemas.microsoft.com/office/drawing/2014/main" id="{5B97C94A-C103-4759-9C22-9C86D6E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6265" y="5417515"/>
            <a:ext cx="9157335" cy="1512265"/>
          </a:xfrm>
          <a:prstGeom xmlns:a="http://schemas.openxmlformats.org/drawingml/2006/main" prst="roundRect">
            <a:avLst>
              <a:gd name="adj" fmla="val 7558"/>
            </a:avLst>
          </a:prstGeom>
          <a:solidFill xmlns:a="http://schemas.openxmlformats.org/drawingml/2006/main">
            <a:srgbClr val="DDEFE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C39E6-7093-4F90-9CCD-AA479828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5657850"/>
            <a:ext cx="8667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After the first planned patch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A2001-D996-4439-B8CD-8E621FD1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6038850"/>
            <a:ext cx="8667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If Rapid Spin is in the active player's revealed used-move list, extra Spikes get discouraged. Hidden spinners are not inferred.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6F517C-1606-40B2-9BF6-55897E8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7162800"/>
            <a:ext cx="9163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1A1F"/>
                </a:solidFill>
                <a:latin typeface="Aptos"/>
                <a:ea typeface="Aptos"/>
                <a:cs typeface="Aptos"/>
              </a:rPr>
              <a:t>Expected player-facing effect: Janine and Koga stop looking scripted around hazard loops and start protecting hazard value fairly.</a:t>
            </a:r>
          </a:p>
        </p:txBody>
      </p:sp>
      <p:sp>
        <p:nvSpPr>
          <p:cNvPr id="2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7440D3F-A74F-46F6-91DA-09133CEF6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868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Planned patch estimate: 20-45 ROM bytes, 0 WRAM/HRAM/SRAM bytes. Actual bytes TBD after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72558287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A83DF76-DB30-4FEE-9578-5D3B2A46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before-after-example-2">
            <a:extLst xmlns:a="http://schemas.openxmlformats.org/drawingml/2006/main">
              <a:ext uri="{FF2B5EF4-FFF2-40B4-BE49-F238E27FC236}">
                <a16:creationId xmlns:a16="http://schemas.microsoft.com/office/drawing/2014/main" id="{D28EE61F-C8D4-45A4-A4E9-940760B1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BEFORE / AFTER EXAMPLE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B4176D-8B86-4BE0-86DA-2BD0DA3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3620750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1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1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Setup decisions become less exploitable under public lethal pressure.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31FE44-E0A9-4A2A-804B-86445EAA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79819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6D4DB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D4DB2"/>
                </a:solidFill>
                <a:latin typeface="Bahnschrift"/>
                <a:ea typeface="Bahnschrift"/>
                <a:cs typeface="Bahnschrift"/>
              </a:rPr>
              <a:t>Current foundation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F69ADE-0A6C-4658-B8C1-B655DB2F2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62350"/>
            <a:ext cx="6210300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37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37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The scorer already considers setup under pressure.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50019-0375-4E71-8029-317335FB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6896100" cy="1085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The roadmap tightens narrow cases where visible HP bands and public KO pressure say a boost turn is likely dead unless it immediately changes the route.</a:t>
            </a:r>
          </a:p>
        </p:txBody>
      </p:sp>
      <p:pic>
        <p:nvPicPr>
          <p:cNvPr id="7" name="gengar-setu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f0b9389d64866"/>
          <a:stretch xmlns:a="http://schemas.openxmlformats.org/drawingml/2006/main"/>
        </p:blipFill>
        <p:spPr>
          <a:xfrm xmlns:a="http://schemas.openxmlformats.org/drawingml/2006/main">
            <a:off x="914400" y="6846113"/>
            <a:ext cx="1714500" cy="1714500"/>
          </a:xfrm>
          <a:prstGeom xmlns:a="http://schemas.openxmlformats.org/drawingml/2006/main" prst="rect">
            <a:avLst/>
          </a:prstGeom>
        </p:spPr>
      </p:pic>
      <p:pic>
        <p:nvPicPr>
          <p:cNvPr id="8" name="dragonite-setu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6d4b5fa11545e2"/>
          <a:stretch xmlns:a="http://schemas.openxmlformats.org/drawingml/2006/main"/>
        </p:blipFill>
        <p:spPr>
          <a:xfrm xmlns:a="http://schemas.openxmlformats.org/drawingml/2006/main">
            <a:off x="2762250" y="6846113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speed-ani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8e276535343ee"/>
          <a:stretch xmlns:a="http://schemas.openxmlformats.org/drawingml/2006/main"/>
        </p:blipFill>
        <p:spPr>
          <a:xfrm xmlns:a="http://schemas.openxmlformats.org/drawingml/2006/main">
            <a:off x="4705350" y="6846113"/>
            <a:ext cx="1714500" cy="17145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8304F-AFAC-421E-984F-5B294436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195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6D4DB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6D4DB2"/>
                </a:solidFill>
                <a:latin typeface="Bahnschrift"/>
                <a:ea typeface="Bahnschrift"/>
                <a:cs typeface="Bahnschrift"/>
              </a:rPr>
              <a:t>Before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67B83-E065-4732-AE66-44744E14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3619500"/>
            <a:ext cx="2324100" cy="1409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A setup move can still be a tempting scorer result in edge cases if the immediate public danger is underpriced.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99B698-3880-487B-A8FE-C4F462A81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3619500"/>
            <a:ext cx="23241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Planned gate: low-HP setup loses unless setup wins, survives, or preserves a route.</a:t>
            </a:r>
          </a:p>
        </p:txBody>
      </p:sp>
      <p:sp>
        <p:nvSpPr>
          <p:cNvPr id="13" name="rule-Before">
            <a:extLst xmlns:a="http://schemas.openxmlformats.org/drawingml/2006/main">
              <a:ext uri="{FF2B5EF4-FFF2-40B4-BE49-F238E27FC236}">
                <a16:creationId xmlns:a16="http://schemas.microsoft.com/office/drawing/2014/main" id="{743FCF3B-6018-4F7C-9B5C-3B5A14C9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6255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B8BDFB-48D1-457E-9F06-BE1B3336B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3530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Player 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CA5CE-F7CE-48C8-BCF6-A51BD509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5353050"/>
            <a:ext cx="23241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The player can sometimes exploit passive boost turns by attacking through them.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0BCA82-9AEF-4F10-8FD8-0A9C3FC1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5353050"/>
            <a:ext cx="23241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The boss uses the public board to choose damage, denial, or preservation sooner.</a:t>
            </a:r>
          </a:p>
        </p:txBody>
      </p:sp>
      <p:sp>
        <p:nvSpPr>
          <p:cNvPr id="17" name="rule-Player read">
            <a:extLst xmlns:a="http://schemas.openxmlformats.org/drawingml/2006/main">
              <a:ext uri="{FF2B5EF4-FFF2-40B4-BE49-F238E27FC236}">
                <a16:creationId xmlns:a16="http://schemas.microsoft.com/office/drawing/2014/main" id="{FD56BA1B-6891-45FF-8EB3-1FEE683B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61035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0D0DE-54D0-4248-8B56-25B08B25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68008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5EA8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F5EA8"/>
                </a:solidFill>
                <a:latin typeface="Bahnschrift"/>
                <a:ea typeface="Bahnschrift"/>
                <a:cs typeface="Bahnschrift"/>
              </a:rPr>
              <a:t>Fairness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6A7509-93D3-4F4E-AA40-A9A59B7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1550" y="6800850"/>
            <a:ext cx="23241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No private damage roll or hidden move slot is needed.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15A0A-4C1F-49B5-8A15-5FEEA2F5A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68550" y="6800850"/>
            <a:ext cx="23241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Uses visible HP/status, public threat masks, revealed moves, and boss-owned state only.</a:t>
            </a:r>
          </a:p>
        </p:txBody>
      </p:sp>
      <p:sp>
        <p:nvSpPr>
          <p:cNvPr id="21" name="rule-Fairness">
            <a:extLst xmlns:a="http://schemas.openxmlformats.org/drawingml/2006/main">
              <a:ext uri="{FF2B5EF4-FFF2-40B4-BE49-F238E27FC236}">
                <a16:creationId xmlns:a16="http://schemas.microsoft.com/office/drawing/2014/main" id="{53AB3680-7D44-460B-AF0C-CE72A38F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8058150"/>
            <a:ext cx="798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2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0FCF40A6-F9A5-4353-B0F0-48091A728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344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This is a later roadmap item, not the first implementation patch.</a:t>
            </a:r>
          </a:p>
        </p:txBody>
      </p:sp>
    </p:spTree>
    <p:extLst>
      <p:ext uri="{BB962C8B-B14F-4D97-AF65-F5344CB8AC3E}">
        <p14:creationId xmlns:p14="http://schemas.microsoft.com/office/powerpoint/2010/main" val="16037038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EF3BA574-1585-47DD-A394-CEE8972D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before-after-example-3">
            <a:extLst xmlns:a="http://schemas.openxmlformats.org/drawingml/2006/main">
              <a:ext uri="{FF2B5EF4-FFF2-40B4-BE49-F238E27FC236}">
                <a16:creationId xmlns:a16="http://schemas.microsoft.com/office/drawing/2014/main" id="{A98868F3-3A23-4A57-8F37-B9E89A99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BEFORE / AFTER EXAMPLE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CFD78-34D7-45CE-AA4A-2086835F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419225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4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4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Sacrifice moves become route tools instead of spectacle.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990C0A-61B7-46BD-936E-3B437FAB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87439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400" b="1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1A1F"/>
                </a:solidFill>
                <a:latin typeface="Aptos"/>
                <a:ea typeface="Aptos"/>
                <a:cs typeface="Aptos"/>
              </a:rPr>
              <a:t>The plan treats Explosion and Selfdestruct as human trade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3C8A62-D439-4227-963F-7B319C1B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7463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C74632"/>
                </a:solidFill>
                <a:latin typeface="Bahnschrift"/>
                <a:ea typeface="Bahnschrift"/>
                <a:cs typeface="Bahnschrift"/>
              </a:rPr>
              <a:t>Current gap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B7BEC2-53BE-4B09-97EF-8D2AD977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10050"/>
            <a:ext cx="27051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Sacrifice moves can be over- or under-valued without a route-value gate.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98E38-C20A-443B-85D8-086EE3F4F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10050"/>
            <a:ext cx="27051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Planned scoring: spend them only when public route value is high.</a:t>
            </a:r>
          </a:p>
        </p:txBody>
      </p:sp>
      <p:sp>
        <p:nvSpPr>
          <p:cNvPr id="8" name="rule-Current gap">
            <a:extLst xmlns:a="http://schemas.openxmlformats.org/drawingml/2006/main">
              <a:ext uri="{FF2B5EF4-FFF2-40B4-BE49-F238E27FC236}">
                <a16:creationId xmlns:a16="http://schemas.microsoft.com/office/drawing/2014/main" id="{14627F77-23A7-4AF9-B46E-7DC22F1BB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874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764D6-5E1A-4BE3-B396-446D49E3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1020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Route value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C91081-AFD8-4D99-8CE5-EBA1A88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5410200"/>
            <a:ext cx="27051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Meaningful trades remove a public threat, deny setup, or open the boss's route.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8C08E7-470D-4C91-A78C-585C67B5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410200"/>
            <a:ext cx="270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Measured through fixtures before source changes.</a:t>
            </a:r>
          </a:p>
        </p:txBody>
      </p:sp>
      <p:sp>
        <p:nvSpPr>
          <p:cNvPr id="12" name="rule-Route value">
            <a:extLst xmlns:a="http://schemas.openxmlformats.org/drawingml/2006/main">
              <a:ext uri="{FF2B5EF4-FFF2-40B4-BE49-F238E27FC236}">
                <a16:creationId xmlns:a16="http://schemas.microsoft.com/office/drawing/2014/main" id="{597C56C6-C18F-418B-8DB8-BE4D9116B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81750"/>
            <a:ext cx="874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E059D-8173-4293-BE12-1F01CA13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10350"/>
            <a:ext cx="2667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F5EA8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F5EA8"/>
                </a:solidFill>
                <a:latin typeface="Bahnschrift"/>
                <a:ea typeface="Bahnschrift"/>
                <a:cs typeface="Bahnschrift"/>
              </a:rPr>
              <a:t>Guardrail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28A20F-D650-4FE0-BA48-A29CCF6F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6610350"/>
            <a:ext cx="27051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Do not call hidden party or current-input helpers to decide whether the trade is good.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826B5-FBBC-4370-A901-19475F76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6610350"/>
            <a:ext cx="27051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0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141A1F"/>
                </a:solidFill>
                <a:latin typeface="Aptos"/>
                <a:ea typeface="Aptos"/>
                <a:cs typeface="Aptos"/>
              </a:rPr>
              <a:t>Use active visible pressure and already seen species only.</a:t>
            </a:r>
          </a:p>
        </p:txBody>
      </p:sp>
      <p:sp>
        <p:nvSpPr>
          <p:cNvPr id="16" name="rule-Guardrail">
            <a:extLst xmlns:a="http://schemas.openxmlformats.org/drawingml/2006/main">
              <a:ext uri="{FF2B5EF4-FFF2-40B4-BE49-F238E27FC236}">
                <a16:creationId xmlns:a16="http://schemas.microsoft.com/office/drawing/2014/main" id="{D49AD4D8-1086-47AC-9F46-60A5EA7E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600950"/>
            <a:ext cx="8743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CBAA"/>
          </a:solidFill>
          <a:ln xmlns:a="http://schemas.openxmlformats.org/drawingml/2006/main" w="0">
            <a:solidFill>
              <a:srgbClr val="D6CBAA"/>
            </a:solidFill>
            <a:prstDash val="solid"/>
          </a:ln>
        </p:spPr>
      </p:sp>
      <p:sp>
        <p:nvSpPr>
          <p:cNvPr id="17" name="explosion-bg">
            <a:extLst xmlns:a="http://schemas.openxmlformats.org/drawingml/2006/main">
              <a:ext uri="{FF2B5EF4-FFF2-40B4-BE49-F238E27FC236}">
                <a16:creationId xmlns:a16="http://schemas.microsoft.com/office/drawing/2014/main" id="{968ED6FD-7A18-42FE-9A89-5C26A87B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52800"/>
            <a:ext cx="662940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1F1C"/>
          </a:solidFill>
        </p:spPr>
      </p:sp>
      <p:pic>
        <p:nvPicPr>
          <p:cNvPr id="18" name="explos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3b4a73763495a"/>
          <a:stretch xmlns:a="http://schemas.openxmlformats.org/drawingml/2006/main"/>
        </p:blipFill>
        <p:spPr>
          <a:xfrm xmlns:a="http://schemas.openxmlformats.org/drawingml/2006/main">
            <a:off x="13296900" y="3754222"/>
            <a:ext cx="990600" cy="247650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5FBBE3-289E-4962-B40D-798C88B48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54864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3300" b="1">
                <a:solidFill>
                  <a:srgbClr val="F1E7C8"/>
                </a:solidFill>
                <a:latin typeface="Bahnschrift"/>
                <a:ea typeface="Bahnschrift"/>
                <a:cs typeface="Bahnschrift"/>
              </a:defRPr>
            </a:pPr>
            <a:r>
              <a:rPr sz="3300" b="1">
                <a:solidFill>
                  <a:srgbClr val="F1E7C8"/>
                </a:solidFill>
                <a:latin typeface="Bahnschrift"/>
                <a:ea typeface="Bahnschrift"/>
                <a:cs typeface="Bahnschrift"/>
              </a:rPr>
              <a:t>Cash out only when the trade matters.</a:t>
            </a:r>
          </a:p>
        </p:txBody>
      </p:sp>
      <p:sp>
        <p:nvSpPr>
          <p:cNvPr id="20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3042FF5C-C165-459B-8C03-A232918C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439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Roadmap item after hazard retention, four-move saturation review, and anti-dead-setup tightening.</a:t>
            </a:r>
          </a:p>
        </p:txBody>
      </p:sp>
    </p:spTree>
    <p:extLst>
      <p:ext uri="{BB962C8B-B14F-4D97-AF65-F5344CB8AC3E}">
        <p14:creationId xmlns:p14="http://schemas.microsoft.com/office/powerpoint/2010/main" val="191622952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B8A67476-BA88-4C76-BBB5-EE368AFC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measurement-discipline">
            <a:extLst xmlns:a="http://schemas.openxmlformats.org/drawingml/2006/main">
              <a:ext uri="{FF2B5EF4-FFF2-40B4-BE49-F238E27FC236}">
                <a16:creationId xmlns:a16="http://schemas.microsoft.com/office/drawing/2014/main" id="{638DCCF7-BEDB-4C57-A900-2E656314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MEASUREMENT DISCIPLINE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27278-899D-4229-AD3C-3779D92F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1468100" cy="1695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4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4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The deck does not claim Elo. It claims measured gates.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650F2-1CFC-4E50-AF64-F11FFC11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802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Green in the planning pass</a:t>
            </a:r>
          </a:p>
        </p:txBody>
      </p:sp>
      <p:sp>
        <p:nvSpPr>
          <p:cNvPr id="5" name="dot-2E7D5B">
            <a:extLst xmlns:a="http://schemas.openxmlformats.org/drawingml/2006/main">
              <a:ext uri="{FF2B5EF4-FFF2-40B4-BE49-F238E27FC236}">
                <a16:creationId xmlns:a16="http://schemas.microsoft.com/office/drawing/2014/main" id="{B9F0E719-14B9-42B1-B8CF-CBEBDA83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B89C9-4B74-4BFE-8D46-3D28DBCD4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385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Gold/Silver normal build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ADCD4-330A-4D97-BC26-4BD10955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6385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A04D10-6116-4C31-9AB3-AC1937E0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3855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Fresh build completed.</a:t>
            </a:r>
          </a:p>
        </p:txBody>
      </p:sp>
      <p:sp>
        <p:nvSpPr>
          <p:cNvPr id="9" name="dot-2E7D5B">
            <a:extLst xmlns:a="http://schemas.openxmlformats.org/drawingml/2006/main">
              <a:ext uri="{FF2B5EF4-FFF2-40B4-BE49-F238E27FC236}">
                <a16:creationId xmlns:a16="http://schemas.microsoft.com/office/drawing/2014/main" id="{1F54F522-F7D4-4B9D-99FD-F14F0F64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377FB3-1DEB-4201-8E24-267B55F8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291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No-cheat audit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14D4E1-0724-4733-8FB0-CC22F261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2291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B167D-F483-444C-BBD0-D55F6B11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1480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Ordinary boss AI boundary currently clean.</a:t>
            </a:r>
          </a:p>
        </p:txBody>
      </p:sp>
      <p:sp>
        <p:nvSpPr>
          <p:cNvPr id="13" name="dot-2E7D5B">
            <a:extLst xmlns:a="http://schemas.openxmlformats.org/drawingml/2006/main">
              <a:ext uri="{FF2B5EF4-FFF2-40B4-BE49-F238E27FC236}">
                <a16:creationId xmlns:a16="http://schemas.microsoft.com/office/drawing/2014/main" id="{8A57F403-D327-439E-B2BD-AF9B953D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91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568396-4EDB-4000-9C26-451A0898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149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Debugger regression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33F9E6-6E5A-4F8A-831E-349DC023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9149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56278-D56F-4262-A721-1BAF8305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0060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43/43 strict pairwise labels agreed.</a:t>
            </a:r>
          </a:p>
        </p:txBody>
      </p:sp>
      <p:sp>
        <p:nvSpPr>
          <p:cNvPr id="17" name="dot-2E7D5B">
            <a:extLst xmlns:a="http://schemas.openxmlformats.org/drawingml/2006/main">
              <a:ext uri="{FF2B5EF4-FFF2-40B4-BE49-F238E27FC236}">
                <a16:creationId xmlns:a16="http://schemas.microsoft.com/office/drawing/2014/main" id="{8AEB03CC-1567-4E74-BDB8-D3515346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2A81BC-2E38-4CBA-BC11-669FADA0B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054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Preference validation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3FEC9-80DA-4AC4-832E-B29FA8C3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5054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C2E5C-BD19-4E4B-9B35-C4899DA71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5505450"/>
            <a:ext cx="20574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57 fixtures validated.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F4F8B4-4068-48A2-981D-6334B8C2D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24200"/>
            <a:ext cx="802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C74632"/>
                </a:solidFill>
                <a:latin typeface="Bahnschrift"/>
                <a:ea typeface="Bahnschrift"/>
                <a:cs typeface="Bahnschrift"/>
              </a:defRPr>
            </a:pPr>
            <a:r>
              <a:rPr sz="1800" b="1">
                <a:solidFill>
                  <a:srgbClr val="C74632"/>
                </a:solidFill>
                <a:latin typeface="Bahnschrift"/>
                <a:ea typeface="Bahnschrift"/>
                <a:cs typeface="Bahnschrift"/>
              </a:rPr>
              <a:t>Must refresh before implementation</a:t>
            </a:r>
          </a:p>
        </p:txBody>
      </p:sp>
      <p:sp>
        <p:nvSpPr>
          <p:cNvPr id="22" name="dot-C74632">
            <a:extLst xmlns:a="http://schemas.openxmlformats.org/drawingml/2006/main">
              <a:ext uri="{FF2B5EF4-FFF2-40B4-BE49-F238E27FC236}">
                <a16:creationId xmlns:a16="http://schemas.microsoft.com/office/drawing/2014/main" id="{310BB627-2ECD-4060-B3A5-20E0EB8F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10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2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E39E59-C3DE-40C9-8262-7DD8BD4B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528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Memory budget audit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999CE-7F77-4F00-998D-A2443919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37528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746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4632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D6153D-1962-44DD-9EF2-17A437B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363855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dev_index.md is stale after the build.</a:t>
            </a:r>
          </a:p>
        </p:txBody>
      </p:sp>
      <p:sp>
        <p:nvSpPr>
          <p:cNvPr id="26" name="dot-C74632">
            <a:extLst xmlns:a="http://schemas.openxmlformats.org/drawingml/2006/main">
              <a:ext uri="{FF2B5EF4-FFF2-40B4-BE49-F238E27FC236}">
                <a16:creationId xmlns:a16="http://schemas.microsoft.com/office/drawing/2014/main" id="{9494A643-1501-4842-B31D-59BE55D2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495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2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12285E-B69A-476A-BA92-796F1057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4577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Live trace ledger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7E863-0F0C-4A25-89A6-C8AFBE523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44577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746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4632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039839-7617-466D-B9AD-8C1DF5AC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434340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Trace ROM hash mismatch.</a:t>
            </a:r>
          </a:p>
        </p:txBody>
      </p:sp>
      <p:sp>
        <p:nvSpPr>
          <p:cNvPr id="30" name="dot-F4B942">
            <a:extLst xmlns:a="http://schemas.openxmlformats.org/drawingml/2006/main">
              <a:ext uri="{FF2B5EF4-FFF2-40B4-BE49-F238E27FC236}">
                <a16:creationId xmlns:a16="http://schemas.microsoft.com/office/drawing/2014/main" id="{909037C0-0A21-4D74-8453-993464280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19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95AFC5-DAC1-47FC-AB80-526EA4FC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1625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ROM hash compare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8FDD106-D043-45E1-B19F-328F3A26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1625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NOT A CLEAN GATE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927F37-9712-48AE-88EB-E0141A84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5048250"/>
            <a:ext cx="2057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Normal Gold/Silver hashes diverge from baseline.</a:t>
            </a:r>
          </a:p>
        </p:txBody>
      </p:sp>
      <p:sp>
        <p:nvSpPr>
          <p:cNvPr id="34" name="dot-2F5EA8">
            <a:extLst xmlns:a="http://schemas.openxmlformats.org/drawingml/2006/main">
              <a:ext uri="{FF2B5EF4-FFF2-40B4-BE49-F238E27FC236}">
                <a16:creationId xmlns:a16="http://schemas.microsoft.com/office/drawing/2014/main" id="{B28687A7-DEB7-42A7-9E30-CFE6B003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6057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124B30-E457-445C-BFE8-DE83AEC55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59817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Haki/oracle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9C1341-9689-430F-8D32-0C552FDB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4050" y="59817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5E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EA8"/>
                </a:solidFill>
                <a:latin typeface="Aptos"/>
                <a:ea typeface="Aptos"/>
                <a:cs typeface="Aptos"/>
              </a:rPr>
              <a:t>QUARANTINED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A55A58-4DF9-4EDE-AD7D-0CFB125F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0" y="5734050"/>
            <a:ext cx="20574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Allowed only under its documented exception contract.</a:t>
            </a:r>
          </a:p>
        </p:txBody>
      </p:sp>
      <p:sp>
        <p:nvSpPr>
          <p:cNvPr id="38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F2CBC59D-D9A9-4059-9997-4A802135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627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This slide reports actual tool outcomes from the planning pass; no win-rate or 1500 Elo claim is made.</a:t>
            </a:r>
          </a:p>
        </p:txBody>
      </p:sp>
    </p:spTree>
    <p:extLst>
      <p:ext uri="{BB962C8B-B14F-4D97-AF65-F5344CB8AC3E}">
        <p14:creationId xmlns:p14="http://schemas.microsoft.com/office/powerpoint/2010/main" val="12375125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3E6F02F-9628-4DB4-935D-83B9C5F49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implementation-roadmap">
            <a:extLst xmlns:a="http://schemas.openxmlformats.org/drawingml/2006/main">
              <a:ext uri="{FF2B5EF4-FFF2-40B4-BE49-F238E27FC236}">
                <a16:creationId xmlns:a16="http://schemas.microsoft.com/office/drawing/2014/main" id="{6D75F946-7F35-4DB3-B94E-7905B7D9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IMPLEMENTATION 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6EE9E-AD49-473D-9077-3683B7FE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3525500" cy="163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2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2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The path is deliberately small, reversible, and evidence-led.</a:t>
            </a:r>
          </a:p>
        </p:txBody>
      </p:sp>
      <p:pic>
        <p:nvPicPr>
          <p:cNvPr id="4" name="misty-road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b189c990b49ab"/>
          <a:stretch xmlns:a="http://schemas.openxmlformats.org/drawingml/2006/main"/>
        </p:blipFill>
        <p:spPr>
          <a:xfrm xmlns:a="http://schemas.openxmlformats.org/drawingml/2006/main">
            <a:off x="1104900" y="3081833"/>
            <a:ext cx="2476500" cy="2476500"/>
          </a:xfrm>
          <a:prstGeom xmlns:a="http://schemas.openxmlformats.org/drawingml/2006/main" prst="rect">
            <a:avLst/>
          </a:prstGeom>
        </p:spPr>
      </p:pic>
      <p:pic>
        <p:nvPicPr>
          <p:cNvPr id="5" name="badges-roadmap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ab3814b274d80"/>
          <a:stretch xmlns:a="http://schemas.openxmlformats.org/drawingml/2006/main"/>
        </p:blipFill>
        <p:spPr>
          <a:xfrm xmlns:a="http://schemas.openxmlformats.org/drawingml/2006/main">
            <a:off x="2282536" y="5729783"/>
            <a:ext cx="121227" cy="1333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F18FFC-B5E5-4D9B-87DB-7C3C9BF5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239000"/>
            <a:ext cx="281940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Leader identity improves through scoring, not bespoke scripts for every fight.</a:t>
            </a:r>
          </a:p>
        </p:txBody>
      </p:sp>
      <p:sp>
        <p:nvSpPr>
          <p:cNvPr id="7" name="dot-F4B942">
            <a:extLst xmlns:a="http://schemas.openxmlformats.org/drawingml/2006/main">
              <a:ext uri="{FF2B5EF4-FFF2-40B4-BE49-F238E27FC236}">
                <a16:creationId xmlns:a16="http://schemas.microsoft.com/office/drawing/2014/main" id="{82E7F94C-9466-40F1-9435-F5510032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62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2A85A2-1820-4576-983B-0297B394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0861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0. Reset the floor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4B841-DA5A-4DA2-8E20-67971498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0861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F4B94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B942"/>
                </a:solidFill>
                <a:latin typeface="Aptos"/>
                <a:ea typeface="Aptos"/>
                <a:cs typeface="Aptos"/>
              </a:rPr>
              <a:t>FIRST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1425DB-134B-4930-BD34-38174D586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08610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Regenerate dev_index.md and refresh trace hashes or document deferral.</a:t>
            </a:r>
          </a:p>
        </p:txBody>
      </p:sp>
      <p:sp>
        <p:nvSpPr>
          <p:cNvPr id="11" name="dot-2E7D5B">
            <a:extLst xmlns:a="http://schemas.openxmlformats.org/drawingml/2006/main">
              <a:ext uri="{FF2B5EF4-FFF2-40B4-BE49-F238E27FC236}">
                <a16:creationId xmlns:a16="http://schemas.microsoft.com/office/drawing/2014/main" id="{7EAB0D9A-5246-4CDF-91CD-ECD79DAD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19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7D5B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F65A7-6463-4126-A5CE-2B424311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5623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1. Revealed-spinner hazards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4C403-238E-4530-A6C7-981927C2E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FIRST PATCH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97ABF-8329-43E1-A6D4-48B2D7C8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6235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0 new WRAM; use exact active revealed Rapid Spin only.</a:t>
            </a:r>
          </a:p>
        </p:txBody>
      </p:sp>
      <p:sp>
        <p:nvSpPr>
          <p:cNvPr id="15" name="dot-2F5EA8">
            <a:extLst xmlns:a="http://schemas.openxmlformats.org/drawingml/2006/main">
              <a:ext uri="{FF2B5EF4-FFF2-40B4-BE49-F238E27FC236}">
                <a16:creationId xmlns:a16="http://schemas.microsoft.com/office/drawing/2014/main" id="{2E337C5B-61BD-419F-8B3F-8E896A5E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76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6EC98-602C-4127-A3E2-9A6B1546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03860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2. Four-move saturation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9AC6D9-997E-4A5B-88DE-F674F40E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0386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2F5EA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F5EA8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B1FDA3-DF46-4496-8170-882002EA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3860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Stop respecting speculative coverage after four real moves are public, after edge-case audit.</a:t>
            </a:r>
          </a:p>
        </p:txBody>
      </p:sp>
      <p:sp>
        <p:nvSpPr>
          <p:cNvPr id="19" name="dot-6D4DB2">
            <a:extLst xmlns:a="http://schemas.openxmlformats.org/drawingml/2006/main">
              <a:ext uri="{FF2B5EF4-FFF2-40B4-BE49-F238E27FC236}">
                <a16:creationId xmlns:a16="http://schemas.microsoft.com/office/drawing/2014/main" id="{7C8745DA-4F28-41F9-B9EC-5FE0F965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72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DB2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D35EC5-EA2C-4D45-B8BD-25E8948B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3. Anti-dead setup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5C26BD-160C-406D-9DA1-48FE81BC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6D4DB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D4DB2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E2E405-1E87-4AEC-A0EE-0A5258E8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51485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Suppress low-HP setup under public KO pressure unless it changes the route.</a:t>
            </a:r>
          </a:p>
        </p:txBody>
      </p:sp>
      <p:sp>
        <p:nvSpPr>
          <p:cNvPr id="23" name="dot-C74632">
            <a:extLst xmlns:a="http://schemas.openxmlformats.org/drawingml/2006/main">
              <a:ext uri="{FF2B5EF4-FFF2-40B4-BE49-F238E27FC236}">
                <a16:creationId xmlns:a16="http://schemas.microsoft.com/office/drawing/2014/main" id="{D391C6B2-7D09-42DB-A3A0-DDEB49BBC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292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4632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7E7268-9749-4622-A961-51336FA5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972050"/>
            <a:ext cx="3429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165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4. Cash-out discipline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F4C84C-ED0A-4EF1-89D0-4FAF4588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9720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650" b="1">
                <a:solidFill>
                  <a:srgbClr val="C74632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C74632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AD481E-7E1C-47D2-83B9-F1C6A2FFB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972050"/>
            <a:ext cx="7200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Make Explosion-style trades route-aware and measurable.</a:t>
            </a:r>
          </a:p>
        </p:txBody>
      </p:sp>
      <p:sp>
        <p:nvSpPr>
          <p:cNvPr id="2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A61C0B3-0986-4988-A9B0-3775D4A8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34390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The plan explicitly defers broad search, large counters, and personality tables until smaller heuristics are proven.</a:t>
            </a:r>
          </a:p>
        </p:txBody>
      </p:sp>
    </p:spTree>
    <p:extLst>
      <p:ext uri="{BB962C8B-B14F-4D97-AF65-F5344CB8AC3E}">
        <p14:creationId xmlns:p14="http://schemas.microsoft.com/office/powerpoint/2010/main" val="128973067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71D08A4C-87D0-4470-9A4B-D1D7A5C2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A"/>
          </a:solidFill>
        </p:spPr>
      </p:sp>
      <p:sp>
        <p:nvSpPr>
          <p:cNvPr id="2" name="kicker-investor-takeaway">
            <a:extLst xmlns:a="http://schemas.openxmlformats.org/drawingml/2006/main">
              <a:ext uri="{FF2B5EF4-FFF2-40B4-BE49-F238E27FC236}">
                <a16:creationId xmlns:a16="http://schemas.microsoft.com/office/drawing/2014/main" id="{5BA08DE9-CA70-49D4-B612-164155F8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85800"/>
            <a:ext cx="16459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2E7D5B"/>
                </a:solidFill>
                <a:latin typeface="Bahnschrift"/>
                <a:ea typeface="Bahnschrift"/>
                <a:cs typeface="Bahnschrift"/>
              </a:rPr>
              <a:t>INVESTOR TAKEAWAY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005167-5F5E-4471-9F81-B9AB4B6A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81100"/>
            <a:ext cx="14249400" cy="17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5700" b="1">
                <a:solidFill>
                  <a:srgbClr val="141A1F"/>
                </a:solidFill>
                <a:latin typeface="Bahnschrift"/>
                <a:ea typeface="Bahnschrift"/>
                <a:cs typeface="Bahnschrift"/>
              </a:defRPr>
            </a:pPr>
            <a:r>
              <a:rPr sz="5700" b="1">
                <a:solidFill>
                  <a:srgbClr val="141A1F"/>
                </a:solidFill>
                <a:latin typeface="Bahnschrift"/>
                <a:ea typeface="Bahnschrift"/>
                <a:cs typeface="Bahnschrift"/>
              </a:rPr>
              <a:t>The improvement is product-visible, not just technical.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8045A-1454-4981-8EEF-E6DEFACA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7600950" cy="1314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41A1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41A1F"/>
                </a:solidFill>
                <a:latin typeface="Aptos"/>
                <a:ea typeface="Aptos"/>
                <a:cs typeface="Aptos"/>
              </a:rPr>
              <a:t>After implementation, bosses should feel more prepared because they punish public board mistakes, preserve important pieces, and vary close good choices.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AFBF4E-0F21-4A2C-842D-701153E1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71628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75" b="0">
                <a:solidFill>
                  <a:srgbClr val="25313B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25313B"/>
                </a:solidFill>
                <a:latin typeface="Aptos"/>
                <a:ea typeface="Aptos"/>
                <a:cs typeface="Aptos"/>
              </a:rPr>
              <a:t>The credibility comes from the constraints: buildable ROM, byte-aware patches, no hidden player information, and scenario gates before claims.</a:t>
            </a:r>
          </a:p>
        </p:txBody>
      </p:sp>
      <p:sp>
        <p:nvSpPr>
          <p:cNvPr id="6" name="pill-fairer-difficulty">
            <a:extLst xmlns:a="http://schemas.openxmlformats.org/drawingml/2006/main">
              <a:ext uri="{FF2B5EF4-FFF2-40B4-BE49-F238E27FC236}">
                <a16:creationId xmlns:a16="http://schemas.microsoft.com/office/drawing/2014/main" id="{BEC69745-8645-49BE-9151-E24F4FE6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972452"/>
            <a:ext cx="22669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7D5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BFD220-B2D4-4E49-BA3D-B5745391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048500"/>
            <a:ext cx="1924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Fairer difficulty</a:t>
            </a:r>
          </a:p>
        </p:txBody>
      </p:sp>
      <p:sp>
        <p:nvSpPr>
          <p:cNvPr id="8" name="pill-more-replayable-bosses">
            <a:extLst xmlns:a="http://schemas.openxmlformats.org/drawingml/2006/main">
              <a:ext uri="{FF2B5EF4-FFF2-40B4-BE49-F238E27FC236}">
                <a16:creationId xmlns:a16="http://schemas.microsoft.com/office/drawing/2014/main" id="{F7423195-8C4E-4C66-AF43-17FE0A6E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972452"/>
            <a:ext cx="28384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CA0E7E-2C44-4476-A605-79645413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7048500"/>
            <a:ext cx="24955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More replayable bosses</a:t>
            </a:r>
          </a:p>
        </p:txBody>
      </p:sp>
      <p:sp>
        <p:nvSpPr>
          <p:cNvPr id="10" name="pill-measured-rollout">
            <a:extLst xmlns:a="http://schemas.openxmlformats.org/drawingml/2006/main">
              <a:ext uri="{FF2B5EF4-FFF2-40B4-BE49-F238E27FC236}">
                <a16:creationId xmlns:a16="http://schemas.microsoft.com/office/drawing/2014/main" id="{00CBB80B-D14E-49B0-A0BE-7D3F1F09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6972452"/>
            <a:ext cx="2152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313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0D700F-E52C-4F4D-8F79-E204BD751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70485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defRPr>
            </a:pPr>
            <a:r>
              <a:rPr sz="1350" b="1">
                <a:solidFill>
                  <a:srgbClr val="FFFFFF"/>
                </a:solidFill>
                <a:latin typeface="Bahnschrift"/>
                <a:ea typeface="Bahnschrift"/>
                <a:cs typeface="Bahnschrift"/>
              </a:rPr>
              <a:t>Measured rollout</a:t>
            </a:r>
          </a:p>
        </p:txBody>
      </p:sp>
      <p:sp>
        <p:nvSpPr>
          <p:cNvPr id="12" name="final-bg">
            <a:extLst xmlns:a="http://schemas.openxmlformats.org/drawingml/2006/main">
              <a:ext uri="{FF2B5EF4-FFF2-40B4-BE49-F238E27FC236}">
                <a16:creationId xmlns:a16="http://schemas.microsoft.com/office/drawing/2014/main" id="{7041C297-7E57-463C-89C7-4F28661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505200"/>
            <a:ext cx="739140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333B"/>
          </a:solidFill>
        </p:spPr>
      </p:sp>
      <p:pic>
        <p:nvPicPr>
          <p:cNvPr id="13" name="final-janin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a8ad42a3d84af3"/>
          <a:stretch xmlns:a="http://schemas.openxmlformats.org/drawingml/2006/main"/>
        </p:blipFill>
        <p:spPr>
          <a:xfrm xmlns:a="http://schemas.openxmlformats.org/drawingml/2006/main">
            <a:off x="9958388" y="4672013"/>
            <a:ext cx="2238375" cy="2238375"/>
          </a:xfrm>
          <a:prstGeom xmlns:a="http://schemas.openxmlformats.org/drawingml/2006/main" prst="rect">
            <a:avLst/>
          </a:prstGeom>
        </p:spPr>
      </p:pic>
      <p:pic>
        <p:nvPicPr>
          <p:cNvPr id="14" name="final-koga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8bcf5b2bc64823"/>
          <a:stretch xmlns:a="http://schemas.openxmlformats.org/drawingml/2006/main"/>
        </p:blipFill>
        <p:spPr>
          <a:xfrm xmlns:a="http://schemas.openxmlformats.org/drawingml/2006/main">
            <a:off x="12272963" y="4672013"/>
            <a:ext cx="2238375" cy="2238375"/>
          </a:xfrm>
          <a:prstGeom xmlns:a="http://schemas.openxmlformats.org/drawingml/2006/main" prst="rect">
            <a:avLst/>
          </a:prstGeom>
        </p:spPr>
      </p:pic>
      <p:pic>
        <p:nvPicPr>
          <p:cNvPr id="15" name="final-champ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9764742c9144e8"/>
          <a:stretch xmlns:a="http://schemas.openxmlformats.org/drawingml/2006/main"/>
        </p:blipFill>
        <p:spPr>
          <a:xfrm xmlns:a="http://schemas.openxmlformats.org/drawingml/2006/main">
            <a:off x="14587538" y="4672013"/>
            <a:ext cx="2238375" cy="2238375"/>
          </a:xfrm>
          <a:prstGeom xmlns:a="http://schemas.openxmlformats.org/drawingml/2006/main" prst="rect">
            <a:avLst/>
          </a:prstGeom>
        </p:spPr>
      </p:pic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364ADB-B3DA-4678-A94E-7A8467C4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629650"/>
            <a:ext cx="16459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7A72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A725F"/>
                </a:solidFill>
                <a:latin typeface="Aptos"/>
                <a:ea typeface="Aptos"/>
                <a:cs typeface="Aptos"/>
              </a:rPr>
              <a:t>Next concrete milestone: implement Public revealed-spinner hazard retention with three fixtures, normal build, map delta, and audit floor.</a:t>
            </a:r>
          </a:p>
        </p:txBody>
      </p:sp>
    </p:spTree>
    <p:extLst>
      <p:ext uri="{BB962C8B-B14F-4D97-AF65-F5344CB8AC3E}">
        <p14:creationId xmlns:p14="http://schemas.microsoft.com/office/powerpoint/2010/main" val="12631641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2026-05-14T23:32:08.2000000Z</dcterms:created>
  <dcterms:modified xsi:type="dcterms:W3CDTF">2026-05-14T23:32:08.2000000Z</dcterms:modified>
</coreProperties>
</file>